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0E3246-2D76-4AEA-9819-AD1ED274E820}">
  <a:tblStyle styleId="{4B0E3246-2D76-4AEA-9819-AD1ED274E8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github.com/Kartikeya-G121/AI-Preventive-Healthcare-/" TargetMode="External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2167086"/>
            <a:ext cx="8001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Agentic AI Hackathon: Building Intelligent Agents with IBM Granite and LangFlow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5138886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Project Name: </a:t>
            </a:r>
            <a:r>
              <a:rPr b="1" i="0" lang="en-US" sz="21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HealthGuard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5805636"/>
            <a:ext cx="1104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Name of the team: </a:t>
            </a:r>
            <a:r>
              <a:rPr b="1" lang="en-US" sz="2700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WEIRD FISHES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Details of Team members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14"/>
          <p:cNvGraphicFramePr/>
          <p:nvPr/>
        </p:nvGraphicFramePr>
        <p:xfrm>
          <a:off x="571500" y="2038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{4B0E3246-2D76-4AEA-9819-AD1ED274E820}</a:tableStyleId>
              </a:tblPr>
              <a:tblGrid>
                <a:gridCol w="2574875"/>
                <a:gridCol w="1784625"/>
                <a:gridCol w="4034025"/>
                <a:gridCol w="2645950"/>
              </a:tblGrid>
              <a:tr h="103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TEAM MEMBER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Passport Photo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Email 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Phone number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Brahmansh Bora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brahmansh.bs23@bmsce.ac.in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+91 </a:t>
                      </a: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8433093895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Kartikeya Gupta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kartikeyagupta.bs23@bmsce.ac.in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+91 </a:t>
                      </a: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7903172319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Dimple Hirwani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dimplehirwani.bs23@bmsce.ac.in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+91 </a:t>
                      </a: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9569781007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4" name="Google Shape;94;p14" title="WhatsApp Image 2025-04-20 at 23.05.37_27f838b7.jpg"/>
          <p:cNvPicPr preferRelativeResize="0"/>
          <p:nvPr/>
        </p:nvPicPr>
        <p:blipFill rotWithShape="1">
          <a:blip r:embed="rId3">
            <a:alphaModFix/>
          </a:blip>
          <a:srcRect b="5807" l="0" r="0" t="5798"/>
          <a:stretch/>
        </p:blipFill>
        <p:spPr>
          <a:xfrm>
            <a:off x="3298775" y="42547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title="pass.jpeg"/>
          <p:cNvPicPr preferRelativeResize="0"/>
          <p:nvPr/>
        </p:nvPicPr>
        <p:blipFill rotWithShape="1">
          <a:blip r:embed="rId4">
            <a:alphaModFix/>
          </a:blip>
          <a:srcRect b="6278" l="0" r="0" t="6278"/>
          <a:stretch/>
        </p:blipFill>
        <p:spPr>
          <a:xfrm>
            <a:off x="3298775" y="3213550"/>
            <a:ext cx="762000" cy="7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title="WhatsApp Image 2026-01-30 at 11.23.42 AM.jpeg"/>
          <p:cNvPicPr preferRelativeResize="0"/>
          <p:nvPr/>
        </p:nvPicPr>
        <p:blipFill rotWithShape="1">
          <a:blip r:embed="rId5">
            <a:alphaModFix/>
          </a:blip>
          <a:srcRect b="10612" l="0" r="0" t="10604"/>
          <a:stretch/>
        </p:blipFill>
        <p:spPr>
          <a:xfrm>
            <a:off x="3298775" y="5295900"/>
            <a:ext cx="762000" cy="76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Statement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824162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Challenge: Reactive vs. Proactive Healthcare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3300412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Information Overload: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Healthcare providers struggle to process fragmented patient data from various sources (wearables, logs, history).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4071937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Reactive Care: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Interventions often occur only after symptoms manifest, leading to preventable complications.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325" y="4857187"/>
            <a:ext cx="10763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Personalization Gaps: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Generic health advice fails to account for individual lifestyle nuances and real-time habits.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5667362"/>
            <a:ext cx="10763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Lack of Integration: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Disconnected systems prevent a holistic view of patient health risk.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325278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0243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795837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38" y="5580100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Proposed Solution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245655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We are using an </a:t>
            </a: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Agentic AI system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: HealthGuard AI.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3357562"/>
            <a:ext cx="533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 multi-agent architecture that orchestrates: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961382"/>
            <a:ext cx="5334000" cy="3078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57250" y="3881437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Lifestyle Analysis: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Parsing unstructured inputs.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57250" y="4338637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Risk Assessment: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Comparing data against medical baselines.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7250" y="5110162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Advisory Services: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Generating personalized health plans.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8338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42910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50625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Need of Project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857250" y="33194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Rising Chronic Diseases: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Conditions like Diabetes and Hypertension are surging globally.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57250" y="37766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Cost Efficiency: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Preventive care is significantly cheaper than emergency treatments.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57250" y="42338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Data Utilization: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Leveraging the massive amount of unused health data generated by patients daily.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57250" y="46910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Accessibility: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Providing expert-level risk assessment to underserved populations via AI.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32718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37290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41862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46434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571500" y="938213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 User of Project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57250" y="2605087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Patients / Individuals: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People looking to proactively manage their health and receive daily guidance.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57250" y="3690937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Healthcare Providers: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Doctors requiring a pre-screening tool to identify high-risk patients efficiently.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57250" y="4776787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Insurance Companies: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Organizations seeking to reduce payouts by encouraging preventive health measures.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255746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36433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472916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153" name="Google Shape;15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7750" y="2395525"/>
            <a:ext cx="4438001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Technology Used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857250" y="3086100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Langflow Platform: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For visual orchestration of the multi-agent system.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57250" y="3543300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Langflow Components: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Chat Input, Chat Output, Custom Agents, Astra DB Tool.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57250" y="4000500"/>
            <a:ext cx="10763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IBM Granite Model: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ibm-granite-3-8b-instruct for high-performance reasoning.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57250" y="44672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DataStax Astra DB (Cassandra) for vector search and retrieval.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57250" y="49244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AI Engine: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IBM Watsonx.ai for foundation model access.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30384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34956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39528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44196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48768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Novelty and Uniqueness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57250" y="316230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Agentic Architecture: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Unlike simple chatbots, our agents have distinct roles and tools, collaborating to solve complex problems.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57250" y="39338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Contextual Awareness: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Uses vector search to recall past health history, providing continuity in care.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57250" y="43910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Granite-Guarded Outputs: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Ensures medical advice remains within safe, bias-free boundaries.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57250" y="48482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Real-time Orchestration: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Dynamic adjustment of risk scores based on live conversation data.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31146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38862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43434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48006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Technical Flow Diagram - Architecture Blueprint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447925" y="6705600"/>
            <a:ext cx="7296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High-level architecture showing User Input -&gt; Langflow Agents -&gt; IBM Watsonx/Astra DB -&gt; Response</a:t>
            </a:r>
            <a:endParaRPr/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575" y="1853825"/>
            <a:ext cx="7453800" cy="45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Langflow Component Used</a:t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857250" y="30908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Chat Input: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Captures natural language queries from the patient.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857250" y="35480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IBM watsonx AI Agent: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The core reasoning unit configured with the Granite model.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857250" y="40052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Astra DB Tool: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Allows agents to query the vector database for similar medical profiles.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57250" y="44624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Prompt Component: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Structures the system instructions for the Lifestyle and Risk agents.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857250" y="49196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Chat Output: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Delivers the final formulated health advice to the user.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30432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35004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39576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44148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48720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Screenshot 1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250" y="2561125"/>
            <a:ext cx="7937500" cy="30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Screenshot 2</a:t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9900" y="2871300"/>
            <a:ext cx="8517275" cy="24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Screenshot 1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025" y="2066075"/>
            <a:ext cx="7611374" cy="38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Screenshot 2</a:t>
            </a:r>
            <a:endParaRPr/>
          </a:p>
        </p:txBody>
      </p:sp>
      <p:sp>
        <p:nvSpPr>
          <p:cNvPr id="234" name="Google Shape;234;p26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350" y="1893950"/>
            <a:ext cx="7309650" cy="46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Future Scope</a:t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857250" y="2690812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Wearable Integration: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Direct API connection to Fitbit/Apple Health for real-time vitals monitoring.</a:t>
            </a:r>
            <a:endParaRPr/>
          </a:p>
        </p:txBody>
      </p:sp>
      <p:sp>
        <p:nvSpPr>
          <p:cNvPr id="243" name="Google Shape;243;p27"/>
          <p:cNvSpPr txBox="1"/>
          <p:nvPr/>
        </p:nvSpPr>
        <p:spPr>
          <a:xfrm>
            <a:off x="857250" y="3462337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EHR Compatibility: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Seamless sync with hospital Electronic Health Records (FHIR standards).</a:t>
            </a:r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857250" y="4233862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Voice Interface: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Adding speech-to-text capabilities for elderly patients.</a:t>
            </a:r>
            <a:endParaRPr/>
          </a:p>
        </p:txBody>
      </p:sp>
      <p:sp>
        <p:nvSpPr>
          <p:cNvPr id="245" name="Google Shape;245;p27"/>
          <p:cNvSpPr txBox="1"/>
          <p:nvPr/>
        </p:nvSpPr>
        <p:spPr>
          <a:xfrm>
            <a:off x="857250" y="5005387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Multilingual Support: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Expanding the model to support regional languages for wider accessibility.</a:t>
            </a:r>
            <a:endParaRPr/>
          </a:p>
        </p:txBody>
      </p:sp>
      <p:sp>
        <p:nvSpPr>
          <p:cNvPr id="246" name="Google Shape;246;p27"/>
          <p:cNvSpPr txBox="1"/>
          <p:nvPr/>
        </p:nvSpPr>
        <p:spPr>
          <a:xfrm>
            <a:off x="571500" y="264318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7" name="Google Shape;247;p27"/>
          <p:cNvSpPr txBox="1"/>
          <p:nvPr/>
        </p:nvSpPr>
        <p:spPr>
          <a:xfrm>
            <a:off x="571500" y="34147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571500" y="41862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9" name="Google Shape;249;p27"/>
          <p:cNvSpPr txBox="1"/>
          <p:nvPr/>
        </p:nvSpPr>
        <p:spPr>
          <a:xfrm>
            <a:off x="571500" y="495776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250" name="Google Shape;2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600" y="2690800"/>
            <a:ext cx="4734650" cy="30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 Hub Link</a:t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3690937" y="323850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Please test and access our working project here:</a:t>
            </a:r>
            <a:endParaRPr/>
          </a:p>
        </p:txBody>
      </p:sp>
      <p:pic>
        <p:nvPicPr>
          <p:cNvPr descr="image.png" id="258" name="Google Shape;2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5775" y="3952875"/>
            <a:ext cx="9475899" cy="103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 txBox="1"/>
          <p:nvPr/>
        </p:nvSpPr>
        <p:spPr>
          <a:xfrm>
            <a:off x="3352800" y="49149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(Repository contains app.py, problem_statement.pdf, and presentation.pptx)</a:t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2943225" y="4152900"/>
            <a:ext cx="6387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https://github.com/Kartikeya-G121/AI-Preventive-Healthcare-/</a:t>
            </a:r>
            <a:endParaRPr b="1" sz="2400">
              <a:solidFill>
                <a:srgbClr val="16A3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6A3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61" name="Google Shape;26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3225" y="4181475"/>
            <a:ext cx="29527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References</a:t>
            </a:r>
            <a:endParaRPr/>
          </a:p>
        </p:txBody>
      </p:sp>
      <p:sp>
        <p:nvSpPr>
          <p:cNvPr id="267" name="Google Shape;267;p29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857250" y="33194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Langflow Documentation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- https://docs.langflow.org</a:t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857250" y="37766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IBM Watsonx.ai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- https://www.ibm.com/products/watsonx-ai</a:t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857250" y="42338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DataStax Astra DB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- https://astra.datastax.com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857250" y="46910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Preventive Health Guidelines (CDC)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- https://www.cdc.gov/chronicdisease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571500" y="32718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9"/>
          <p:cNvSpPr txBox="1"/>
          <p:nvPr/>
        </p:nvSpPr>
        <p:spPr>
          <a:xfrm>
            <a:off x="571500" y="37290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29"/>
          <p:cNvSpPr txBox="1"/>
          <p:nvPr/>
        </p:nvSpPr>
        <p:spPr>
          <a:xfrm>
            <a:off x="571500" y="41862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9"/>
          <p:cNvSpPr txBox="1"/>
          <p:nvPr/>
        </p:nvSpPr>
        <p:spPr>
          <a:xfrm>
            <a:off x="571500" y="46434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/>
        </p:nvSpPr>
        <p:spPr>
          <a:xfrm>
            <a:off x="473868" y="2190750"/>
            <a:ext cx="55008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/>
          </a:p>
        </p:txBody>
      </p:sp>
      <p:sp>
        <p:nvSpPr>
          <p:cNvPr id="281" name="Google Shape;281;p30"/>
          <p:cNvSpPr txBox="1"/>
          <p:nvPr/>
        </p:nvSpPr>
        <p:spPr>
          <a:xfrm>
            <a:off x="571500" y="3838575"/>
            <a:ext cx="530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Thank you for your time and interest.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1919425" y="4638075"/>
            <a:ext cx="239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Team </a:t>
            </a:r>
            <a:r>
              <a:rPr lang="en-US" sz="15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WEIRD FISHES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